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9" r:id="rId3"/>
    <p:sldId id="277" r:id="rId4"/>
    <p:sldId id="279" r:id="rId5"/>
    <p:sldId id="280" r:id="rId6"/>
    <p:sldId id="262" r:id="rId7"/>
    <p:sldId id="260" r:id="rId8"/>
    <p:sldId id="263" r:id="rId9"/>
    <p:sldId id="264" r:id="rId10"/>
    <p:sldId id="266" r:id="rId11"/>
    <p:sldId id="265" r:id="rId12"/>
    <p:sldId id="287" r:id="rId13"/>
    <p:sldId id="267" r:id="rId14"/>
    <p:sldId id="268" r:id="rId15"/>
    <p:sldId id="288" r:id="rId16"/>
    <p:sldId id="289" r:id="rId17"/>
    <p:sldId id="272" r:id="rId18"/>
    <p:sldId id="290" r:id="rId19"/>
    <p:sldId id="270" r:id="rId20"/>
    <p:sldId id="271" r:id="rId21"/>
    <p:sldId id="284" r:id="rId2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snapVertSplitter="1" vertBarState="minimized" horzBarState="maximized">
    <p:restoredLeft sz="17878" autoAdjust="0"/>
    <p:restoredTop sz="94737" autoAdjust="0"/>
  </p:normalViewPr>
  <p:slideViewPr>
    <p:cSldViewPr>
      <p:cViewPr varScale="1">
        <p:scale>
          <a:sx n="75" d="100"/>
          <a:sy n="75" d="100"/>
        </p:scale>
        <p:origin x="-8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782" y="-84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00A60-96EB-4A9B-BA56-B21CBD8E32E9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DAE3A-0529-4264-B9D3-F2378F6DCFC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E352AF8-2AAB-473F-90FB-B08DDF548A0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9E71B8F-DB15-40F6-BD65-657310A35F0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E71B8F-DB15-40F6-BD65-657310A35F0D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E71B8F-DB15-40F6-BD65-657310A35F0D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8A15ECD1-E444-497B-B791-C2FFCBE6A96E}" type="datetimeFigureOut">
              <a:rPr lang="en-US" smtClean="0"/>
              <a:pPr/>
              <a:t>8/8/2008</a:t>
            </a:fld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B0038C98-92BF-48F5-98C9-12F5B5D9DA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1828799"/>
          </a:xfrm>
        </p:spPr>
        <p:txBody>
          <a:bodyPr>
            <a:normAutofit/>
          </a:bodyPr>
          <a:lstStyle/>
          <a:p>
            <a:r>
              <a:rPr lang="en-US" dirty="0" smtClean="0"/>
              <a:t>Uranium Resources in </a:t>
            </a:r>
            <a:br>
              <a:rPr lang="en-US" dirty="0" smtClean="0"/>
            </a:br>
            <a:r>
              <a:rPr lang="en-US" dirty="0" smtClean="0"/>
              <a:t>New Mexico</a:t>
            </a:r>
            <a:endParaRPr lang="en-US" dirty="0"/>
          </a:p>
        </p:txBody>
      </p:sp>
      <p:pic>
        <p:nvPicPr>
          <p:cNvPr id="7" name="Picture 6" descr="Atom1_cro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819400"/>
            <a:ext cx="2952750" cy="3571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West_Central_NM_Active_MCs_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62200" y="304800"/>
            <a:ext cx="4648200" cy="633845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West_Central_NM_Active_MCs_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1246909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LaJara Mesa 2-0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33600" y="226875"/>
            <a:ext cx="4800600" cy="64025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t. Taylor M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39" y="685800"/>
            <a:ext cx="8563761" cy="571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686800" cy="3757350"/>
          </a:xfrm>
        </p:spPr>
        <p:txBody>
          <a:bodyPr>
            <a:noAutofit/>
          </a:bodyPr>
          <a:lstStyle/>
          <a:p>
            <a:r>
              <a:rPr lang="en-US" sz="1800" dirty="0" smtClean="0"/>
              <a:t>ACQUISITION</a:t>
            </a:r>
          </a:p>
          <a:p>
            <a:pPr lvl="1"/>
            <a:r>
              <a:rPr lang="en-US" sz="1800" dirty="0" smtClean="0"/>
              <a:t>Mining Claims on Federal Land   </a:t>
            </a:r>
          </a:p>
          <a:p>
            <a:pPr lvl="1"/>
            <a:r>
              <a:rPr lang="en-US" sz="1800" dirty="0" smtClean="0"/>
              <a:t>State Lease </a:t>
            </a:r>
          </a:p>
          <a:p>
            <a:pPr lvl="1"/>
            <a:r>
              <a:rPr lang="en-US" sz="1800" dirty="0" smtClean="0"/>
              <a:t>Indian Lease </a:t>
            </a:r>
          </a:p>
          <a:p>
            <a:pPr lvl="1"/>
            <a:r>
              <a:rPr lang="en-US" sz="1800" dirty="0" smtClean="0"/>
              <a:t>Private Mineral  (owned or leased)</a:t>
            </a:r>
          </a:p>
          <a:p>
            <a:endParaRPr lang="en-US" sz="1800" dirty="0" smtClean="0"/>
          </a:p>
          <a:p>
            <a:r>
              <a:rPr lang="en-US" sz="1800" dirty="0" smtClean="0"/>
              <a:t>OPERATIONS </a:t>
            </a:r>
          </a:p>
          <a:p>
            <a:pPr lvl="1"/>
            <a:r>
              <a:rPr lang="en-US" sz="1800" dirty="0" smtClean="0"/>
              <a:t>Federal Surface Management  Agencies</a:t>
            </a:r>
          </a:p>
          <a:p>
            <a:pPr lvl="1"/>
            <a:r>
              <a:rPr lang="en-US" sz="1800" dirty="0" smtClean="0"/>
              <a:t>NM Mining and Minerals Division</a:t>
            </a:r>
          </a:p>
          <a:p>
            <a:pPr lvl="1"/>
            <a:r>
              <a:rPr lang="en-US" sz="1800" dirty="0" smtClean="0"/>
              <a:t>Indian Leases  (43 CFR 3590)</a:t>
            </a:r>
          </a:p>
          <a:p>
            <a:pPr lvl="1"/>
            <a:r>
              <a:rPr lang="en-US" sz="1800" dirty="0" smtClean="0"/>
              <a:t>Nuclear Regulatory Commission</a:t>
            </a:r>
          </a:p>
          <a:p>
            <a:pPr lvl="1"/>
            <a:r>
              <a:rPr lang="en-US" sz="1800" dirty="0" smtClean="0"/>
              <a:t>EPA/ NMED</a:t>
            </a:r>
          </a:p>
          <a:p>
            <a:pPr lvl="1"/>
            <a:r>
              <a:rPr lang="en-US" sz="1800" dirty="0" smtClean="0"/>
              <a:t>State Historic Preservation Division</a:t>
            </a:r>
          </a:p>
          <a:p>
            <a:endParaRPr lang="en-US" sz="1800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1806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Claims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066800" y="1905000"/>
          <a:ext cx="7010400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438400"/>
                <a:gridCol w="29718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Increase In  New Claims </a:t>
                      </a:r>
                      <a:br>
                        <a:rPr lang="en-US" sz="1800" b="1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 04-07 </a:t>
                      </a:r>
                      <a:endParaRPr lang="en-US" u="none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Total New Claims </a:t>
                      </a:r>
                      <a:br>
                        <a:rPr lang="en-US" sz="1800" b="1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 04-07</a:t>
                      </a:r>
                      <a:endParaRPr lang="en-US" u="none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Arizona	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161%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33,190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Colorado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1173%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11,766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New Mexico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785%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9,883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Utah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592%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29,572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Wyoming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762%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35,254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MMD Permits Filed</a:t>
            </a:r>
            <a:br>
              <a:rPr lang="en-US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</a:t>
            </a:r>
            <a:r>
              <a:rPr lang="en-US" sz="2400" dirty="0" smtClean="0"/>
              <a:t>Approved	Pending	Denied/Withdrawn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Private	1		2		4</a:t>
            </a:r>
          </a:p>
          <a:p>
            <a:pPr>
              <a:buNone/>
            </a:pPr>
            <a:r>
              <a:rPr lang="en-US" dirty="0" smtClean="0"/>
              <a:t>USFS	3		0		5</a:t>
            </a:r>
          </a:p>
          <a:p>
            <a:pPr>
              <a:buNone/>
            </a:pPr>
            <a:r>
              <a:rPr lang="en-US" dirty="0" smtClean="0"/>
              <a:t>State		2		0		0</a:t>
            </a:r>
          </a:p>
          <a:p>
            <a:pPr>
              <a:buNone/>
            </a:pPr>
            <a:r>
              <a:rPr lang="en-US" dirty="0" smtClean="0"/>
              <a:t>BLM		1		0		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53536"/>
            <a:ext cx="8458200" cy="1143000"/>
          </a:xfrm>
        </p:spPr>
        <p:txBody>
          <a:bodyPr>
            <a:noAutofit/>
          </a:bodyPr>
          <a:lstStyle/>
          <a:p>
            <a:r>
              <a:rPr lang="en-US" sz="4400" dirty="0" smtClean="0"/>
              <a:t>NM Uranium Facilities (1979)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3886200"/>
          </a:xfrm>
        </p:spPr>
        <p:txBody>
          <a:bodyPr/>
          <a:lstStyle/>
          <a:p>
            <a:r>
              <a:rPr lang="en-US" dirty="0" smtClean="0"/>
              <a:t>27		Private</a:t>
            </a:r>
          </a:p>
          <a:p>
            <a:r>
              <a:rPr lang="en-US" dirty="0" smtClean="0"/>
              <a:t> 1		State</a:t>
            </a:r>
          </a:p>
          <a:p>
            <a:r>
              <a:rPr lang="en-US" dirty="0" smtClean="0"/>
              <a:t> 1		Federal</a:t>
            </a:r>
          </a:p>
          <a:p>
            <a:r>
              <a:rPr lang="en-US" dirty="0" smtClean="0"/>
              <a:t> 3		Laguna Tribal</a:t>
            </a:r>
          </a:p>
          <a:p>
            <a:r>
              <a:rPr lang="en-US" dirty="0" smtClean="0"/>
              <a:t> 2		Navajo Tribal</a:t>
            </a:r>
          </a:p>
          <a:p>
            <a:r>
              <a:rPr lang="en-US" dirty="0" smtClean="0"/>
              <a:t> 1		Navajo Trust</a:t>
            </a:r>
          </a:p>
          <a:p>
            <a:r>
              <a:rPr lang="en-US" dirty="0" smtClean="0"/>
              <a:t> 1		Navajo Trust/Private Mineral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5638800"/>
            <a:ext cx="60754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ALL  MILLS ON PRIVATE LAND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NM State &amp; Federal Permitting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BLM and Forest Service</a:t>
            </a:r>
          </a:p>
          <a:p>
            <a:pPr lvl="1"/>
            <a:r>
              <a:rPr lang="en-US" dirty="0" smtClean="0"/>
              <a:t>Casual Use</a:t>
            </a:r>
          </a:p>
          <a:p>
            <a:pPr lvl="1"/>
            <a:r>
              <a:rPr lang="en-US" dirty="0" smtClean="0"/>
              <a:t>Notice</a:t>
            </a:r>
          </a:p>
          <a:p>
            <a:pPr lvl="1"/>
            <a:r>
              <a:rPr lang="en-US" dirty="0" smtClean="0"/>
              <a:t>Plan of Operations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MMD</a:t>
            </a:r>
          </a:p>
          <a:p>
            <a:pPr lvl="1"/>
            <a:r>
              <a:rPr lang="en-US" dirty="0" smtClean="0"/>
              <a:t>Minimal Impact Permit</a:t>
            </a:r>
          </a:p>
          <a:p>
            <a:pPr lvl="1"/>
            <a:r>
              <a:rPr lang="en-US" dirty="0" smtClean="0"/>
              <a:t>Non-Minimal Impact Permit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Legal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Dine Natural Resources Protection Act </a:t>
            </a:r>
            <a:br>
              <a:rPr lang="en-US" dirty="0" smtClean="0"/>
            </a:br>
            <a:r>
              <a:rPr lang="en-US" dirty="0" smtClean="0"/>
              <a:t>of 2005 (DNRPA)</a:t>
            </a:r>
          </a:p>
          <a:p>
            <a:r>
              <a:rPr lang="en-US" dirty="0" smtClean="0"/>
              <a:t>Indian Country</a:t>
            </a:r>
          </a:p>
          <a:p>
            <a:r>
              <a:rPr lang="en-US" dirty="0" smtClean="0"/>
              <a:t>Traditional Cultural Property (TCP)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 descr="ClippedMtTAYLOR_TCP_100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0"/>
            <a:ext cx="7128898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Environmental, Economic and Political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endParaRPr lang="en-US" dirty="0" smtClean="0"/>
          </a:p>
          <a:p>
            <a:pPr lvl="1"/>
            <a:r>
              <a:rPr lang="en-US" sz="3600" dirty="0" smtClean="0"/>
              <a:t>Navajo Nation</a:t>
            </a:r>
          </a:p>
          <a:p>
            <a:pPr lvl="1"/>
            <a:r>
              <a:rPr lang="en-US" sz="3600" dirty="0" smtClean="0"/>
              <a:t>Pueblos</a:t>
            </a:r>
          </a:p>
          <a:p>
            <a:pPr lvl="2"/>
            <a:r>
              <a:rPr lang="en-US" sz="3600" dirty="0" smtClean="0"/>
              <a:t>Acoma, Zuni, Laguna</a:t>
            </a:r>
          </a:p>
          <a:p>
            <a:pPr lvl="1"/>
            <a:r>
              <a:rPr lang="en-US" sz="3600" dirty="0" smtClean="0"/>
              <a:t>Eastern Navajo Dine Against Uranium Mining (ENDAUM)</a:t>
            </a:r>
          </a:p>
          <a:p>
            <a:pPr lvl="1"/>
            <a:r>
              <a:rPr lang="en-US" sz="3600" dirty="0" smtClean="0"/>
              <a:t>Southwest Research and Information Center</a:t>
            </a:r>
          </a:p>
          <a:p>
            <a:pPr lvl="1"/>
            <a:r>
              <a:rPr lang="en-US" sz="3600" dirty="0" smtClean="0"/>
              <a:t>NM Environmental Law Center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Environmental, Economic and Political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US" dirty="0" smtClean="0"/>
          </a:p>
          <a:p>
            <a:pPr lvl="2"/>
            <a:r>
              <a:rPr lang="en-US" sz="3600" dirty="0" smtClean="0"/>
              <a:t>Cibola and McKinley County Governments</a:t>
            </a:r>
          </a:p>
          <a:p>
            <a:pPr lvl="2"/>
            <a:r>
              <a:rPr lang="en-US" sz="3600" dirty="0" smtClean="0"/>
              <a:t>Grants City Merchants</a:t>
            </a:r>
          </a:p>
          <a:p>
            <a:pPr lvl="2"/>
            <a:r>
              <a:rPr lang="en-US" sz="3600" dirty="0" smtClean="0"/>
              <a:t>Eastern Navajo Allottee Association</a:t>
            </a:r>
          </a:p>
          <a:p>
            <a:pPr lvl="2">
              <a:buFont typeface="Arial" pitchFamily="34" charset="0"/>
              <a:buChar char="•"/>
            </a:pPr>
            <a:r>
              <a:rPr lang="en-US" sz="3600" dirty="0" smtClean="0"/>
              <a:t>	Governor Bill (?)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Uranium Caf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73402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600" dirty="0" smtClean="0"/>
              <a:t>The regulatory processes of the various State and Federal agencies need clarification and coordination. 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628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dirty="0" smtClean="0"/>
              <a:t>BLM NM is responsible for the most Indian mineral acreage with uranium reserves.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600" dirty="0" smtClean="0"/>
              <a:t>The majority of future operations in NM can be expected to be on private land.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600" dirty="0" smtClean="0"/>
              <a:t>NM is one of the most politically and environmentally charged states because of the legacy of past uranium mining on Indian lands, especially Navajo lands.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600" dirty="0" smtClean="0"/>
              <a:t>   Political &amp; environmental pressures at all governmental levels could result in a moratorium/regional EIS or even a  prohibition on uranium development. </a:t>
            </a:r>
          </a:p>
          <a:p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yellowcake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933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853</TotalTime>
  <Words>268</Words>
  <Application>Microsoft Office PowerPoint</Application>
  <PresentationFormat>On-screen Show (4:3)</PresentationFormat>
  <Paragraphs>87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Foundry</vt:lpstr>
      <vt:lpstr>Uranium Resources in  New Mexico</vt:lpstr>
      <vt:lpstr>Slide 2</vt:lpstr>
      <vt:lpstr>Slide 3</vt:lpstr>
      <vt:lpstr>Slide 4</vt:lpstr>
      <vt:lpstr>Slide 5</vt:lpstr>
      <vt:lpstr>  </vt:lpstr>
      <vt:lpstr>New Claims</vt:lpstr>
      <vt:lpstr>MMD Permits Filed </vt:lpstr>
      <vt:lpstr>NM Uranium Facilities (1979)</vt:lpstr>
      <vt:lpstr>NM State &amp; Federal Permitting</vt:lpstr>
      <vt:lpstr>Legal Considerations</vt:lpstr>
      <vt:lpstr>Slide 12</vt:lpstr>
      <vt:lpstr>Environmental, Economic and Political Considerations</vt:lpstr>
      <vt:lpstr>Environmental, Economic and Political Considerations</vt:lpstr>
      <vt:lpstr>Slide 15</vt:lpstr>
      <vt:lpstr>Conclusions</vt:lpstr>
      <vt:lpstr>Conclusions</vt:lpstr>
      <vt:lpstr>Conclusions</vt:lpstr>
      <vt:lpstr>Conclusions</vt:lpstr>
      <vt:lpstr>Conclusions</vt:lpstr>
      <vt:lpstr>Slide 21</vt:lpstr>
    </vt:vector>
  </TitlesOfParts>
  <Company>Bureau of Land Management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Uranium Resources in the BLM Uranium States</dc:title>
  <dc:creator>jsalas</dc:creator>
  <cp:lastModifiedBy>wdalness</cp:lastModifiedBy>
  <cp:revision>138</cp:revision>
  <dcterms:created xsi:type="dcterms:W3CDTF">2008-04-28T19:28:26Z</dcterms:created>
  <dcterms:modified xsi:type="dcterms:W3CDTF">2008-08-08T21:56:36Z</dcterms:modified>
</cp:coreProperties>
</file>